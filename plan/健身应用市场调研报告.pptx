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621792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621792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621792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0" y="621792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健身应用市场调研报告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F5D4"/>
                </a:solidFill>
              </a:defRPr>
            </a:pPr>
            <a:r>
              <a:t>从「脚本」到「产品」的转型之路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项目背景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市场需求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全球健身App市场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2025年预计达140亿美元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中国健身用户超4亿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移动健身习惯已养成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用户痛点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缺乏持续动力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数据分散无法整合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效果不明显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付费后服务不符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转型价值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从工具到平台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从功能到生态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建立用户粘性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探索商业闭环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主流健身App分类概览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65176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中国最大健身平台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5000+在线课程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2亿+累计用户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课程内容主导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65176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MyFitnessPal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691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美国食物追踪头部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1500万+食物库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条码扫描功能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营养分析专家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265176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25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Nike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91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专业训练计划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100+训练项目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运动员级指导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完全免费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188720"/>
            <a:ext cx="265176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325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Strava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运动记录专家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跑步骑行为主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社交挑战功能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Segment竞速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Keep深度分析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4747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核心数据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5000+ 在线课程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2亿+ 累计用户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4000万+ 月活用户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70% 女性用户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商业模式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会员订阅制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月卡30元/季卡78元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电商带货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运动装备+食品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线下Keepland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付费团课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核心优势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内容丰富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覆盖各层次用户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社区活跃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打卡分享氛围好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品牌效应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Nike战略合作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MyFitnessPal深度分析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食物数据库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1500万+ 食物条目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20亿+ 用户记录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条码扫描覆盖广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品牌食品数据全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热量追踪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宏量营养素分析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餐食计划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进度图表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商业模式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免费版：基础追踪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高级版：$19.99/月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- 无广告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- 营养分析深度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- 自定义食物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Nike Training Club vs Strava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Nike Training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100+ 专业训练计划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运动员级训练指导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视频演示清晰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完全免费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训练计时器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173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Strava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GPS运动记录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跑步骑行专注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Segment竞速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社交挑战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订阅$11.99/月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Nike Training：专业训练内容 | Strava：运动社交记录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竞品痛点总结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功能冗余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什么都有但什么都不精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界面复杂，学习成本高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用户只用到10%功能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付费墙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核心功能需付费解锁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免费版功能受限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用户感觉被套路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74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118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数据孤岛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各平台数据无法互通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导出困难格式不统一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用户无法整合分析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6118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社交压力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77639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排行榜造成焦虑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过度社交化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隐私泄露风险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Hook模型四步闭环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286000"/>
            <a:ext cx="2011680" cy="1097280"/>
          </a:xfrm>
          <a:prstGeom prst="roundRect">
            <a:avLst/>
          </a:prstGeom>
          <a:solidFill>
            <a:srgbClr val="14192D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5D4"/>
                </a:solidFill>
              </a:defRPr>
            </a:pPr>
            <a:r>
              <a:t>触发</a:t>
            </a:r>
            <a:br/>
            <a:r>
              <a:t>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2011680" cy="1097280"/>
          </a:xfrm>
          <a:prstGeom prst="roundRect">
            <a:avLst/>
          </a:prstGeom>
          <a:solidFill>
            <a:srgbClr val="14192D"/>
          </a:solidFill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606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C8B4"/>
                </a:solidFill>
              </a:defRPr>
            </a:pPr>
            <a:r>
              <a:t>行动</a:t>
            </a:r>
            <a:br/>
            <a: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011680" cy="1097280"/>
          </a:xfrm>
          <a:prstGeom prst="roundRect">
            <a:avLst/>
          </a:prstGeom>
          <a:solidFill>
            <a:srgbClr val="14192D"/>
          </a:solidFill>
          <a:ln w="2540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606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096"/>
                </a:solidFill>
              </a:defRPr>
            </a:pPr>
            <a:r>
              <a:t>酬赏</a:t>
            </a:r>
            <a:br/>
            <a:r>
              <a:t>Reward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2011680" cy="1097280"/>
          </a:xfrm>
          <a:prstGeom prst="roundRect">
            <a:avLst/>
          </a:prstGeom>
          <a:solidFill>
            <a:srgbClr val="14192D"/>
          </a:solidFill>
          <a:ln w="2540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606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878"/>
                </a:solidFill>
              </a:defRPr>
            </a:pPr>
            <a:r>
              <a:t>投入</a:t>
            </a:r>
            <a:br/>
            <a:r>
              <a:t>Investment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2651760"/>
            <a:ext cx="548640" cy="365760"/>
          </a:xfrm>
          <a:prstGeom prst="rightArrow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486400" y="2651760"/>
            <a:ext cx="548640" cy="365760"/>
          </a:xfrm>
          <a:prstGeom prst="rightArrow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955279" y="2651760"/>
            <a:ext cx="548640" cy="365760"/>
          </a:xfrm>
          <a:prstGeom prst="rightArrow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B0"/>
                </a:solidFill>
              </a:defRPr>
            </a:pPr>
            <a:r>
              <a:t>通过持续的用户引导循环，建立用户习惯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触发机制应用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外部触发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推送通知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打卡提醒、成就解锁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邮件触达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周报、激励内容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社交媒体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好友动态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内部触发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情绪触发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焦虑时想运动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成就感驱动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场景触发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起床/饭后/睡前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特定环境提醒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外部触发唤醒用户，内部触发建立情感连接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行动与酬赏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降低行动门槛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最小可行行动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1个俯卧撑开始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5分钟运动目标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减少摩擦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一步式打卡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默认选项优化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强化动机酬赏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即时反馈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打卡动画效果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实时数据展示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成就系统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徽章/等级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连续打卡日历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社交认同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好友点赞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让用户轻松开始，让成就可见可感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投入与闭环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时间投入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打卡记录累积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运动历史沉淀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习惯养成成本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数据投入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身体指标录入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运动数据积累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个人profile完善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社交投入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好友关系建立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互动数据累积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社区参与度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闭环逻辑：投入 → 价值感知 → 更多触发 → 更多行动 → 深度投入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现状诊断 - SWOT分析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1920240"/>
          </a:xfrm>
          <a:prstGeom prst="roundRect">
            <a:avLst/>
          </a:prstGeom>
          <a:solidFill>
            <a:srgbClr val="00645A"/>
          </a:solidFill>
          <a:ln>
            <a:solidFill>
              <a:srgbClr val="00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Strengths 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技术能力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用户洞察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灵活迭代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1920240"/>
          </a:xfrm>
          <a:prstGeom prst="roundRect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Weaknesses 劣势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资源有限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缺乏数据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品牌认知度低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91840"/>
            <a:ext cx="5486400" cy="1920240"/>
          </a:xfrm>
          <a:prstGeom prst="roundRect">
            <a:avLst/>
          </a:prstGeom>
          <a:solidFill>
            <a:srgbClr val="005082"/>
          </a:solidFill>
          <a:ln>
            <a:solidFill>
              <a:srgbClr val="00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Opportunities 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细分市场空缺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AI技术赋能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用户隐私意识提升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486400" cy="192024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Threats 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大厂竞争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用户留存困难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获客成本上升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阶段一：交互闭环 - 打卡功能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每日打卡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起床打卡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运动打卡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饮食打卡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多维度记录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日历可视化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打卡日历视图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连续天数统计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月度完成率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激励机制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连续打卡奖励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成就徽章系统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里程碑庆祝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目标：建立用户基础习惯，实现首次Hook循环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阶段二：数据可视化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数据仪表盘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运动时间统计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运动类型分布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卡路里消耗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周期对比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热力图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运动时间分布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高频时段标注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季度趋势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趋势分析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身体指标趋势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运动能力进步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目标完成率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目标：让数据产生价值，增强用户成就感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阶段三：智能调整 - AI赋能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智能推荐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个性化训练计划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根据体能调整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天气关联建议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动态调整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实时状态评估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疲劳度检测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休息提醒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5D4"/>
                </a:solidFill>
              </a:defRPr>
            </a:pPr>
            <a:r>
              <a:t>目标：从工具到助手，实现智能化服务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技术架构与差异化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移动端应用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跨平台开发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离线优先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后端层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用户系统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数据分析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推荐引擎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65760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1731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7830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本地存储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云端同步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隐私加密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F5D4"/>
                </a:solidFill>
              </a:defRPr>
            </a:pPr>
            <a:r>
              <a:t>差异化策略：极简设计 | 隐私优先 | 个人助理定位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关键洞察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洞察一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市场需求旺盛但同质化严重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差异化空间大，专注细分领域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10312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洞察二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9164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用户需要简单有效的工具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极简设计+核心功能=用户粘性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566160"/>
            <a:ext cx="11247120" cy="2286000"/>
          </a:xfrm>
          <a:prstGeom prst="roundRect">
            <a:avLst/>
          </a:prstGeom>
          <a:solidFill>
            <a:srgbClr val="191E37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行动建议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聚焦核心功能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建立数据壁垒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轻社交重个人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隐私优先设计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5D4"/>
                </a:solidFill>
              </a:defRPr>
            </a:pPr>
            <a:r>
              <a:t>未来发展方向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011680"/>
          </a:xfrm>
          <a:prstGeom prst="roundRect">
            <a:avLst/>
          </a:prstGeom>
          <a:solidFill>
            <a:srgbClr val="007864"/>
          </a:solidFill>
          <a:ln>
            <a:solidFill>
              <a:srgbClr val="007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短期（3个月）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基础打卡功能上线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核心用户体验优化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MVP验证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474720" cy="2011680"/>
          </a:xfrm>
          <a:prstGeom prst="roundRect">
            <a:avLst/>
          </a:prstGeom>
          <a:solidFill>
            <a:srgbClr val="00648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中期（6个月）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数据可视化完善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基础社区功能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数据积累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474720" cy="2011680"/>
          </a:xfrm>
          <a:prstGeom prst="roundRect">
            <a:avLst/>
          </a:prstGeom>
          <a:solidFill>
            <a:srgbClr val="005096"/>
          </a:solidFill>
          <a:ln>
            <a:solidFill>
              <a:srgbClr val="005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长期（12个月+）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AI智能助手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商业化探索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生态扩展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137160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137160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137160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0" y="1371600"/>
            <a:ext cx="1828800" cy="27432"/>
          </a:xfrm>
          <a:prstGeom prst="rect">
            <a:avLst/>
          </a:prstGeom>
          <a:solidFill>
            <a:srgbClr val="00F5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感谢您的关注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5D4"/>
                </a:solidFill>
              </a:defRPr>
            </a:pPr>
            <a:r>
              <a:t>期待与您交流探讨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0B0B0"/>
                </a:solidFill>
              </a:defRPr>
            </a:pPr>
            <a:r>
              <a:t>邮箱：contact@example.com  |  电话：138-0000-0000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